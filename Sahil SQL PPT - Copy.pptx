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63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0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ga" initials="y" lastIdx="2" clrIdx="0">
    <p:extLst>
      <p:ext uri="{19B8F6BF-5375-455C-9EA6-DF929625EA0E}">
        <p15:presenceInfo xmlns:p15="http://schemas.microsoft.com/office/powerpoint/2012/main" userId="yog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>
        <p:scale>
          <a:sx n="63" d="100"/>
          <a:sy n="63" d="100"/>
        </p:scale>
        <p:origin x="8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a\Documents\SQL%20Newton\CHART%20Sub%202%20%201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a\Documents\SQL%20Newton\CHART%20Sub%202%20%202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a\Documents\SQL%20Newton\CHART%20Sub%204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a\Documents\SQL%20Newton\CHART%20Sub%203%201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sq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a\Documents\SQL%20Newton\CHART%20Sub%207%20%202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a\Documents\SQL%20Newton\CHART%20Sub%209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Top</a:t>
            </a:r>
            <a:r>
              <a:rPr lang="en-US" sz="2000" b="1" baseline="0" dirty="0"/>
              <a:t> Batting Average</a:t>
            </a:r>
            <a:endParaRPr lang="en-US" sz="2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Sub 2  1'!$B$1</c:f>
              <c:strCache>
                <c:ptCount val="1"/>
                <c:pt idx="0">
                  <c:v>Avg_Runs_Per_Match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Sub 2  1'!$A$2:$A$11</c:f>
              <c:strCache>
                <c:ptCount val="10"/>
                <c:pt idx="0">
                  <c:v>LMP Simmons</c:v>
                </c:pt>
                <c:pt idx="1">
                  <c:v>V Kohli</c:v>
                </c:pt>
                <c:pt idx="2">
                  <c:v>DA Warner</c:v>
                </c:pt>
                <c:pt idx="3">
                  <c:v>AB de Villiers</c:v>
                </c:pt>
                <c:pt idx="4">
                  <c:v>MEK Hussey</c:v>
                </c:pt>
                <c:pt idx="5">
                  <c:v>CH Gayle</c:v>
                </c:pt>
                <c:pt idx="6">
                  <c:v>AM Rahane</c:v>
                </c:pt>
                <c:pt idx="7">
                  <c:v>SE Marsh</c:v>
                </c:pt>
                <c:pt idx="8">
                  <c:v>RV Uthappa</c:v>
                </c:pt>
                <c:pt idx="9">
                  <c:v>DR Smith</c:v>
                </c:pt>
              </c:strCache>
            </c:strRef>
          </c:cat>
          <c:val>
            <c:numRef>
              <c:f>'CHART Sub 2  1'!$B$2:$B$11</c:f>
              <c:numCache>
                <c:formatCode>General</c:formatCode>
                <c:ptCount val="10"/>
                <c:pt idx="0">
                  <c:v>42.82</c:v>
                </c:pt>
                <c:pt idx="1">
                  <c:v>39.869999999999997</c:v>
                </c:pt>
                <c:pt idx="2">
                  <c:v>38.49</c:v>
                </c:pt>
                <c:pt idx="3">
                  <c:v>34.53</c:v>
                </c:pt>
                <c:pt idx="4">
                  <c:v>33.97</c:v>
                </c:pt>
                <c:pt idx="5">
                  <c:v>33.35</c:v>
                </c:pt>
                <c:pt idx="6">
                  <c:v>32.4</c:v>
                </c:pt>
                <c:pt idx="7">
                  <c:v>31.1</c:v>
                </c:pt>
                <c:pt idx="8">
                  <c:v>30.87</c:v>
                </c:pt>
                <c:pt idx="9">
                  <c:v>29.95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18-487F-BD98-A4773B83CD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14713903"/>
        <c:axId val="1214714735"/>
      </c:barChart>
      <c:catAx>
        <c:axId val="121471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714735"/>
        <c:crosses val="autoZero"/>
        <c:auto val="1"/>
        <c:lblAlgn val="ctr"/>
        <c:lblOffset val="100"/>
        <c:noMultiLvlLbl val="0"/>
      </c:catAx>
      <c:valAx>
        <c:axId val="1214714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713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Top Wicket Takers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'CHART Sub 2  2'!$B$1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Sub 2  2'!$A$2:$A$11</c:f>
              <c:strCache>
                <c:ptCount val="10"/>
                <c:pt idx="0">
                  <c:v>DJ Bravo</c:v>
                </c:pt>
                <c:pt idx="1">
                  <c:v>MM Sharma</c:v>
                </c:pt>
                <c:pt idx="2">
                  <c:v>B Kumar</c:v>
                </c:pt>
                <c:pt idx="3">
                  <c:v>SP Narine</c:v>
                </c:pt>
                <c:pt idx="4">
                  <c:v>Harbhajan Singh</c:v>
                </c:pt>
                <c:pt idx="5">
                  <c:v>SL Malinga</c:v>
                </c:pt>
                <c:pt idx="6">
                  <c:v>JP Faulkner</c:v>
                </c:pt>
                <c:pt idx="7">
                  <c:v>Sandeep Sharma</c:v>
                </c:pt>
                <c:pt idx="8">
                  <c:v>YS Chahal</c:v>
                </c:pt>
                <c:pt idx="9">
                  <c:v>A Nehra</c:v>
                </c:pt>
              </c:strCache>
            </c:strRef>
          </c:cat>
          <c:val>
            <c:numRef>
              <c:f>'CHART Sub 2  2'!$B$2:$B$11</c:f>
              <c:numCache>
                <c:formatCode>General</c:formatCode>
                <c:ptCount val="10"/>
                <c:pt idx="0">
                  <c:v>81</c:v>
                </c:pt>
                <c:pt idx="1">
                  <c:v>78</c:v>
                </c:pt>
                <c:pt idx="2">
                  <c:v>77</c:v>
                </c:pt>
                <c:pt idx="3">
                  <c:v>68</c:v>
                </c:pt>
                <c:pt idx="4">
                  <c:v>67</c:v>
                </c:pt>
                <c:pt idx="5">
                  <c:v>66</c:v>
                </c:pt>
                <c:pt idx="6">
                  <c:v>61</c:v>
                </c:pt>
                <c:pt idx="7">
                  <c:v>59</c:v>
                </c:pt>
                <c:pt idx="8">
                  <c:v>58</c:v>
                </c:pt>
                <c:pt idx="9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6-4243-87C3-63B6ACE589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15739663"/>
        <c:axId val="1215742991"/>
      </c:barChart>
      <c:catAx>
        <c:axId val="12157396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5742991"/>
        <c:crosses val="autoZero"/>
        <c:auto val="1"/>
        <c:lblAlgn val="ctr"/>
        <c:lblOffset val="100"/>
        <c:noMultiLvlLbl val="0"/>
      </c:catAx>
      <c:valAx>
        <c:axId val="1215742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57396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All-Rounder</a:t>
            </a:r>
            <a:r>
              <a:rPr lang="en-US" sz="2000" b="1" baseline="0" dirty="0"/>
              <a:t> Performers</a:t>
            </a:r>
            <a:endParaRPr lang="en-US" sz="2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4592426999361505E-2"/>
          <c:y val="0.1552660599945801"/>
          <c:w val="0.91393476262015627"/>
          <c:h val="0.57540629092464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'CHART Sub 4'!$B$1</c:f>
              <c:strCache>
                <c:ptCount val="1"/>
                <c:pt idx="0">
                  <c:v>Total_Runs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Sub 4'!$A$2:$A$15</c:f>
              <c:strCache>
                <c:ptCount val="14"/>
                <c:pt idx="0">
                  <c:v>DR Smith</c:v>
                </c:pt>
                <c:pt idx="1">
                  <c:v>KA Pollard</c:v>
                </c:pt>
                <c:pt idx="2">
                  <c:v>SR Watson</c:v>
                </c:pt>
                <c:pt idx="3">
                  <c:v>RA Jadeja</c:v>
                </c:pt>
                <c:pt idx="4">
                  <c:v>MC Henriques</c:v>
                </c:pt>
                <c:pt idx="5">
                  <c:v>STR Binny</c:v>
                </c:pt>
                <c:pt idx="6">
                  <c:v>AD Russell</c:v>
                </c:pt>
                <c:pt idx="7">
                  <c:v>JH Kallis</c:v>
                </c:pt>
                <c:pt idx="8">
                  <c:v>JP Faulkner</c:v>
                </c:pt>
                <c:pt idx="9">
                  <c:v>DJ Bravo</c:v>
                </c:pt>
                <c:pt idx="10">
                  <c:v>NLTC Perera</c:v>
                </c:pt>
                <c:pt idx="11">
                  <c:v>AR Patel</c:v>
                </c:pt>
                <c:pt idx="12">
                  <c:v>Shakib Al Hasan</c:v>
                </c:pt>
                <c:pt idx="13">
                  <c:v>Harbhajan Singh</c:v>
                </c:pt>
              </c:strCache>
            </c:strRef>
          </c:cat>
          <c:val>
            <c:numRef>
              <c:f>'CHART Sub 4'!$B$2:$B$15</c:f>
              <c:numCache>
                <c:formatCode>General</c:formatCode>
                <c:ptCount val="14"/>
                <c:pt idx="0">
                  <c:v>1707</c:v>
                </c:pt>
                <c:pt idx="1">
                  <c:v>1320</c:v>
                </c:pt>
                <c:pt idx="2">
                  <c:v>1315</c:v>
                </c:pt>
                <c:pt idx="3">
                  <c:v>670</c:v>
                </c:pt>
                <c:pt idx="4">
                  <c:v>643</c:v>
                </c:pt>
                <c:pt idx="5">
                  <c:v>553</c:v>
                </c:pt>
                <c:pt idx="6">
                  <c:v>527</c:v>
                </c:pt>
                <c:pt idx="7">
                  <c:v>462</c:v>
                </c:pt>
                <c:pt idx="8">
                  <c:v>459</c:v>
                </c:pt>
                <c:pt idx="9">
                  <c:v>423</c:v>
                </c:pt>
                <c:pt idx="10">
                  <c:v>397</c:v>
                </c:pt>
                <c:pt idx="11">
                  <c:v>379</c:v>
                </c:pt>
                <c:pt idx="12">
                  <c:v>379</c:v>
                </c:pt>
                <c:pt idx="13">
                  <c:v>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7-4A51-86A7-0E47E67599F6}"/>
            </c:ext>
          </c:extLst>
        </c:ser>
        <c:ser>
          <c:idx val="1"/>
          <c:order val="1"/>
          <c:tx>
            <c:strRef>
              <c:f>'CHART Sub 4'!$C$1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Sub 4'!$A$2:$A$15</c:f>
              <c:strCache>
                <c:ptCount val="14"/>
                <c:pt idx="0">
                  <c:v>DR Smith</c:v>
                </c:pt>
                <c:pt idx="1">
                  <c:v>KA Pollard</c:v>
                </c:pt>
                <c:pt idx="2">
                  <c:v>SR Watson</c:v>
                </c:pt>
                <c:pt idx="3">
                  <c:v>RA Jadeja</c:v>
                </c:pt>
                <c:pt idx="4">
                  <c:v>MC Henriques</c:v>
                </c:pt>
                <c:pt idx="5">
                  <c:v>STR Binny</c:v>
                </c:pt>
                <c:pt idx="6">
                  <c:v>AD Russell</c:v>
                </c:pt>
                <c:pt idx="7">
                  <c:v>JH Kallis</c:v>
                </c:pt>
                <c:pt idx="8">
                  <c:v>JP Faulkner</c:v>
                </c:pt>
                <c:pt idx="9">
                  <c:v>DJ Bravo</c:v>
                </c:pt>
                <c:pt idx="10">
                  <c:v>NLTC Perera</c:v>
                </c:pt>
                <c:pt idx="11">
                  <c:v>AR Patel</c:v>
                </c:pt>
                <c:pt idx="12">
                  <c:v>Shakib Al Hasan</c:v>
                </c:pt>
                <c:pt idx="13">
                  <c:v>Harbhajan Singh</c:v>
                </c:pt>
              </c:strCache>
            </c:strRef>
          </c:cat>
          <c:val>
            <c:numRef>
              <c:f>'CHART Sub 4'!$C$2:$C$15</c:f>
              <c:numCache>
                <c:formatCode>General</c:formatCode>
                <c:ptCount val="14"/>
                <c:pt idx="0">
                  <c:v>15</c:v>
                </c:pt>
                <c:pt idx="1">
                  <c:v>19</c:v>
                </c:pt>
                <c:pt idx="2">
                  <c:v>54</c:v>
                </c:pt>
                <c:pt idx="3">
                  <c:v>56</c:v>
                </c:pt>
                <c:pt idx="4">
                  <c:v>37</c:v>
                </c:pt>
                <c:pt idx="5">
                  <c:v>20</c:v>
                </c:pt>
                <c:pt idx="6">
                  <c:v>35</c:v>
                </c:pt>
                <c:pt idx="7">
                  <c:v>23</c:v>
                </c:pt>
                <c:pt idx="8">
                  <c:v>61</c:v>
                </c:pt>
                <c:pt idx="9">
                  <c:v>81</c:v>
                </c:pt>
                <c:pt idx="10">
                  <c:v>32</c:v>
                </c:pt>
                <c:pt idx="11">
                  <c:v>46</c:v>
                </c:pt>
                <c:pt idx="12">
                  <c:v>25</c:v>
                </c:pt>
                <c:pt idx="13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7-4A51-86A7-0E47E67599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34743632"/>
        <c:axId val="2034759856"/>
      </c:barChart>
      <c:catAx>
        <c:axId val="203474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4759856"/>
        <c:crosses val="autoZero"/>
        <c:auto val="1"/>
        <c:lblAlgn val="ctr"/>
        <c:lblOffset val="100"/>
        <c:noMultiLvlLbl val="0"/>
      </c:catAx>
      <c:valAx>
        <c:axId val="2034759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474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Top</a:t>
            </a:r>
            <a:r>
              <a:rPr lang="en-US" sz="2000" b="1" baseline="0" dirty="0"/>
              <a:t> Batsmen</a:t>
            </a:r>
            <a:r>
              <a:rPr lang="en-US" sz="2000" b="1" dirty="0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399457574705653E-2"/>
          <c:y val="0.14260089355852318"/>
          <c:w val="0.89398240239166549"/>
          <c:h val="0.6394128043990573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'CHART Sub 3 1'!$C$1</c:f>
              <c:strCache>
                <c:ptCount val="1"/>
                <c:pt idx="0">
                  <c:v>Total_Runs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Sub 3 1'!$A$2:$A$11</c:f>
              <c:strCache>
                <c:ptCount val="10"/>
                <c:pt idx="0">
                  <c:v>V Kohli</c:v>
                </c:pt>
                <c:pt idx="1">
                  <c:v>DA Warner</c:v>
                </c:pt>
                <c:pt idx="2">
                  <c:v>AB de Villiers</c:v>
                </c:pt>
                <c:pt idx="3">
                  <c:v>RG Sharma</c:v>
                </c:pt>
                <c:pt idx="4">
                  <c:v>RV Uthappa</c:v>
                </c:pt>
                <c:pt idx="5">
                  <c:v>AM Rahane</c:v>
                </c:pt>
                <c:pt idx="6">
                  <c:v>SK Raina</c:v>
                </c:pt>
                <c:pt idx="7">
                  <c:v>DR Smith</c:v>
                </c:pt>
                <c:pt idx="8">
                  <c:v>CH Gayle</c:v>
                </c:pt>
                <c:pt idx="9">
                  <c:v>G Gambhir</c:v>
                </c:pt>
              </c:strCache>
            </c:strRef>
          </c:cat>
          <c:val>
            <c:numRef>
              <c:f>'CHART Sub 3 1'!$C$2:$C$11</c:f>
              <c:numCache>
                <c:formatCode>General</c:formatCode>
                <c:ptCount val="10"/>
                <c:pt idx="0">
                  <c:v>2472</c:v>
                </c:pt>
                <c:pt idx="1">
                  <c:v>2348</c:v>
                </c:pt>
                <c:pt idx="2">
                  <c:v>1968</c:v>
                </c:pt>
                <c:pt idx="3">
                  <c:v>1899</c:v>
                </c:pt>
                <c:pt idx="4">
                  <c:v>1852</c:v>
                </c:pt>
                <c:pt idx="5">
                  <c:v>1847</c:v>
                </c:pt>
                <c:pt idx="6">
                  <c:v>1844</c:v>
                </c:pt>
                <c:pt idx="7">
                  <c:v>1707</c:v>
                </c:pt>
                <c:pt idx="8">
                  <c:v>1634</c:v>
                </c:pt>
                <c:pt idx="9">
                  <c:v>1569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87-4EF0-9109-F3CD30E2EE34}"/>
            </c:ext>
          </c:extLst>
        </c:ser>
        <c:ser>
          <c:idx val="2"/>
          <c:order val="2"/>
          <c:tx>
            <c:strRef>
              <c:f>'CHART Sub 3 1'!$D$1</c:f>
              <c:strCache>
                <c:ptCount val="1"/>
                <c:pt idx="0">
                  <c:v>Strike_Rate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Sub 3 1'!$A$2:$A$11</c:f>
              <c:strCache>
                <c:ptCount val="10"/>
                <c:pt idx="0">
                  <c:v>V Kohli</c:v>
                </c:pt>
                <c:pt idx="1">
                  <c:v>DA Warner</c:v>
                </c:pt>
                <c:pt idx="2">
                  <c:v>AB de Villiers</c:v>
                </c:pt>
                <c:pt idx="3">
                  <c:v>RG Sharma</c:v>
                </c:pt>
                <c:pt idx="4">
                  <c:v>RV Uthappa</c:v>
                </c:pt>
                <c:pt idx="5">
                  <c:v>AM Rahane</c:v>
                </c:pt>
                <c:pt idx="6">
                  <c:v>SK Raina</c:v>
                </c:pt>
                <c:pt idx="7">
                  <c:v>DR Smith</c:v>
                </c:pt>
                <c:pt idx="8">
                  <c:v>CH Gayle</c:v>
                </c:pt>
                <c:pt idx="9">
                  <c:v>G Gambhir</c:v>
                </c:pt>
              </c:strCache>
            </c:strRef>
          </c:cat>
          <c:val>
            <c:numRef>
              <c:f>'CHART Sub 3 1'!$D$2:$D$11</c:f>
              <c:numCache>
                <c:formatCode>General</c:formatCode>
                <c:ptCount val="10"/>
                <c:pt idx="0">
                  <c:v>136</c:v>
                </c:pt>
                <c:pt idx="1">
                  <c:v>141</c:v>
                </c:pt>
                <c:pt idx="2">
                  <c:v>164</c:v>
                </c:pt>
                <c:pt idx="3">
                  <c:v>133</c:v>
                </c:pt>
                <c:pt idx="4">
                  <c:v>127</c:v>
                </c:pt>
                <c:pt idx="5">
                  <c:v>117</c:v>
                </c:pt>
                <c:pt idx="6">
                  <c:v>134</c:v>
                </c:pt>
                <c:pt idx="7">
                  <c:v>127</c:v>
                </c:pt>
                <c:pt idx="8">
                  <c:v>137</c:v>
                </c:pt>
                <c:pt idx="9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87-4EF0-9109-F3CD30E2EE3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93847520"/>
        <c:axId val="18938446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'CHART Sub 3 1'!$B$1</c15:sqref>
                        </c15:formulaRef>
                      </c:ext>
                    </c:extLst>
                    <c:strCache>
                      <c:ptCount val="1"/>
                      <c:pt idx="0">
                        <c:v>Balls_Faced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'CHART Sub 3 1'!$A$2:$A$11</c15:sqref>
                        </c15:formulaRef>
                      </c:ext>
                    </c:extLst>
                    <c:strCache>
                      <c:ptCount val="10"/>
                      <c:pt idx="0">
                        <c:v>V Kohli</c:v>
                      </c:pt>
                      <c:pt idx="1">
                        <c:v>DA Warner</c:v>
                      </c:pt>
                      <c:pt idx="2">
                        <c:v>AB de Villiers</c:v>
                      </c:pt>
                      <c:pt idx="3">
                        <c:v>RG Sharma</c:v>
                      </c:pt>
                      <c:pt idx="4">
                        <c:v>RV Uthappa</c:v>
                      </c:pt>
                      <c:pt idx="5">
                        <c:v>AM Rahane</c:v>
                      </c:pt>
                      <c:pt idx="6">
                        <c:v>SK Raina</c:v>
                      </c:pt>
                      <c:pt idx="7">
                        <c:v>DR Smith</c:v>
                      </c:pt>
                      <c:pt idx="8">
                        <c:v>CH Gayle</c:v>
                      </c:pt>
                      <c:pt idx="9">
                        <c:v>G Gambhir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'CHART Sub 3 1'!$B$2:$B$11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1822</c:v>
                      </c:pt>
                      <c:pt idx="1">
                        <c:v>1666</c:v>
                      </c:pt>
                      <c:pt idx="2">
                        <c:v>1198</c:v>
                      </c:pt>
                      <c:pt idx="3">
                        <c:v>1433</c:v>
                      </c:pt>
                      <c:pt idx="4">
                        <c:v>1457</c:v>
                      </c:pt>
                      <c:pt idx="5">
                        <c:v>1580</c:v>
                      </c:pt>
                      <c:pt idx="6">
                        <c:v>1380</c:v>
                      </c:pt>
                      <c:pt idx="7">
                        <c:v>1343</c:v>
                      </c:pt>
                      <c:pt idx="8">
                        <c:v>1189</c:v>
                      </c:pt>
                      <c:pt idx="9">
                        <c:v>1367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3487-4EF0-9109-F3CD30E2EE34}"/>
                  </c:ext>
                </c:extLst>
              </c15:ser>
            </c15:filteredBarSeries>
          </c:ext>
        </c:extLst>
      </c:barChart>
      <c:catAx>
        <c:axId val="1893847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3844608"/>
        <c:crosses val="autoZero"/>
        <c:auto val="1"/>
        <c:lblAlgn val="ctr"/>
        <c:lblOffset val="100"/>
        <c:noMultiLvlLbl val="0"/>
      </c:catAx>
      <c:valAx>
        <c:axId val="189384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3847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[sql.xlsx]Sheet1!PivotTable22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/>
              <a:t>Win Rates By Toss Decision</a:t>
            </a:r>
          </a:p>
        </c:rich>
      </c:tx>
      <c:layout>
        <c:manualLayout>
          <c:xMode val="edge"/>
          <c:yMode val="edge"/>
          <c:x val="0.23595630084162209"/>
          <c:y val="1.30780578816306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47695681203385598"/>
          <c:y val="0.11285931449145611"/>
          <c:w val="0.41332402774598831"/>
          <c:h val="0.824976042439636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Sheet1!$K$28:$K$29</c:f>
              <c:strCache>
                <c:ptCount val="1"/>
                <c:pt idx="0">
                  <c:v>bat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lnSpc>
                    <a:spcPct val="300000"/>
                  </a:lnSpc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Sheet1!$J$30:$J$53</c:f>
              <c:strCache>
                <c:ptCount val="23"/>
                <c:pt idx="0">
                  <c:v>Barabati Stadium</c:v>
                </c:pt>
                <c:pt idx="1">
                  <c:v>Brabourne Stadium</c:v>
                </c:pt>
                <c:pt idx="2">
                  <c:v>Dr. Y.S. Rajasekhara Reddy ACA-VDCA Cricket Stadium</c:v>
                </c:pt>
                <c:pt idx="3">
                  <c:v>Dubai International Cricket Stadium</c:v>
                </c:pt>
                <c:pt idx="4">
                  <c:v>Eden Gardens</c:v>
                </c:pt>
                <c:pt idx="5">
                  <c:v>Feroz Shah Kotla</c:v>
                </c:pt>
                <c:pt idx="6">
                  <c:v>Green Park</c:v>
                </c:pt>
                <c:pt idx="7">
                  <c:v>Himachal Pradesh Cricket Association Stadium</c:v>
                </c:pt>
                <c:pt idx="8">
                  <c:v>JSCA International Stadium Complex</c:v>
                </c:pt>
                <c:pt idx="9">
                  <c:v>M Chinnaswamy Stadium</c:v>
                </c:pt>
                <c:pt idx="10">
                  <c:v>MA Chidambaram Stadium, Chepauk</c:v>
                </c:pt>
                <c:pt idx="11">
                  <c:v>Maharashtra Cricket Association Stadium</c:v>
                </c:pt>
                <c:pt idx="12">
                  <c:v>Punjab Cricket Association IS Bindra Stadium, Mohali</c:v>
                </c:pt>
                <c:pt idx="13">
                  <c:v>Punjab Cricket Association Stadium, Mohali</c:v>
                </c:pt>
                <c:pt idx="14">
                  <c:v>Rajiv Gandhi International Stadium, Uppal</c:v>
                </c:pt>
                <c:pt idx="15">
                  <c:v>Sardar Patel Stadium, Motera</c:v>
                </c:pt>
                <c:pt idx="16">
                  <c:v>Saurashtra Cricket Association Stadium</c:v>
                </c:pt>
                <c:pt idx="17">
                  <c:v>Sawai Mansingh Stadium</c:v>
                </c:pt>
                <c:pt idx="18">
                  <c:v>Shaheed Veer Narayan Singh International Stadium</c:v>
                </c:pt>
                <c:pt idx="19">
                  <c:v>Sharjah Cricket Stadium</c:v>
                </c:pt>
                <c:pt idx="20">
                  <c:v>Sheikh Zayed Stadium</c:v>
                </c:pt>
                <c:pt idx="21">
                  <c:v>Subrata Roy Sahara Stadium</c:v>
                </c:pt>
                <c:pt idx="22">
                  <c:v>Wankhede Stadium</c:v>
                </c:pt>
              </c:strCache>
            </c:strRef>
          </c:cat>
          <c:val>
            <c:numRef>
              <c:f>Sheet1!$K$30:$K$53</c:f>
              <c:numCache>
                <c:formatCode>General</c:formatCode>
                <c:ptCount val="23"/>
                <c:pt idx="1">
                  <c:v>100</c:v>
                </c:pt>
                <c:pt idx="2">
                  <c:v>50</c:v>
                </c:pt>
                <c:pt idx="3">
                  <c:v>33.33</c:v>
                </c:pt>
                <c:pt idx="4">
                  <c:v>30</c:v>
                </c:pt>
                <c:pt idx="5">
                  <c:v>42.86</c:v>
                </c:pt>
                <c:pt idx="8">
                  <c:v>33.33</c:v>
                </c:pt>
                <c:pt idx="9">
                  <c:v>33.33</c:v>
                </c:pt>
                <c:pt idx="10">
                  <c:v>72.73</c:v>
                </c:pt>
                <c:pt idx="11">
                  <c:v>50</c:v>
                </c:pt>
                <c:pt idx="12">
                  <c:v>0</c:v>
                </c:pt>
                <c:pt idx="13">
                  <c:v>50</c:v>
                </c:pt>
                <c:pt idx="14">
                  <c:v>15.38</c:v>
                </c:pt>
                <c:pt idx="15">
                  <c:v>33.33</c:v>
                </c:pt>
                <c:pt idx="16">
                  <c:v>0</c:v>
                </c:pt>
                <c:pt idx="17">
                  <c:v>25</c:v>
                </c:pt>
                <c:pt idx="18">
                  <c:v>33.33</c:v>
                </c:pt>
                <c:pt idx="19">
                  <c:v>0</c:v>
                </c:pt>
                <c:pt idx="20">
                  <c:v>75</c:v>
                </c:pt>
                <c:pt idx="21">
                  <c:v>57.14</c:v>
                </c:pt>
                <c:pt idx="22">
                  <c:v>64.290000000000006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72-4566-BFB8-9FDD7349772D}"/>
            </c:ext>
          </c:extLst>
        </c:ser>
        <c:ser>
          <c:idx val="1"/>
          <c:order val="1"/>
          <c:tx>
            <c:strRef>
              <c:f>Sheet1!$L$28:$L$29</c:f>
              <c:strCache>
                <c:ptCount val="1"/>
                <c:pt idx="0">
                  <c:v>field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lnSpc>
                    <a:spcPct val="300000"/>
                  </a:lnSpc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Sheet1!$J$30:$J$53</c:f>
              <c:strCache>
                <c:ptCount val="23"/>
                <c:pt idx="0">
                  <c:v>Barabati Stadium</c:v>
                </c:pt>
                <c:pt idx="1">
                  <c:v>Brabourne Stadium</c:v>
                </c:pt>
                <c:pt idx="2">
                  <c:v>Dr. Y.S. Rajasekhara Reddy ACA-VDCA Cricket Stadium</c:v>
                </c:pt>
                <c:pt idx="3">
                  <c:v>Dubai International Cricket Stadium</c:v>
                </c:pt>
                <c:pt idx="4">
                  <c:v>Eden Gardens</c:v>
                </c:pt>
                <c:pt idx="5">
                  <c:v>Feroz Shah Kotla</c:v>
                </c:pt>
                <c:pt idx="6">
                  <c:v>Green Park</c:v>
                </c:pt>
                <c:pt idx="7">
                  <c:v>Himachal Pradesh Cricket Association Stadium</c:v>
                </c:pt>
                <c:pt idx="8">
                  <c:v>JSCA International Stadium Complex</c:v>
                </c:pt>
                <c:pt idx="9">
                  <c:v>M Chinnaswamy Stadium</c:v>
                </c:pt>
                <c:pt idx="10">
                  <c:v>MA Chidambaram Stadium, Chepauk</c:v>
                </c:pt>
                <c:pt idx="11">
                  <c:v>Maharashtra Cricket Association Stadium</c:v>
                </c:pt>
                <c:pt idx="12">
                  <c:v>Punjab Cricket Association IS Bindra Stadium, Mohali</c:v>
                </c:pt>
                <c:pt idx="13">
                  <c:v>Punjab Cricket Association Stadium, Mohali</c:v>
                </c:pt>
                <c:pt idx="14">
                  <c:v>Rajiv Gandhi International Stadium, Uppal</c:v>
                </c:pt>
                <c:pt idx="15">
                  <c:v>Sardar Patel Stadium, Motera</c:v>
                </c:pt>
                <c:pt idx="16">
                  <c:v>Saurashtra Cricket Association Stadium</c:v>
                </c:pt>
                <c:pt idx="17">
                  <c:v>Sawai Mansingh Stadium</c:v>
                </c:pt>
                <c:pt idx="18">
                  <c:v>Shaheed Veer Narayan Singh International Stadium</c:v>
                </c:pt>
                <c:pt idx="19">
                  <c:v>Sharjah Cricket Stadium</c:v>
                </c:pt>
                <c:pt idx="20">
                  <c:v>Sheikh Zayed Stadium</c:v>
                </c:pt>
                <c:pt idx="21">
                  <c:v>Subrata Roy Sahara Stadium</c:v>
                </c:pt>
                <c:pt idx="22">
                  <c:v>Wankhede Stadium</c:v>
                </c:pt>
              </c:strCache>
            </c:strRef>
          </c:cat>
          <c:val>
            <c:numRef>
              <c:f>Sheet1!$L$30:$L$53</c:f>
              <c:numCache>
                <c:formatCode>General</c:formatCode>
                <c:ptCount val="23"/>
                <c:pt idx="0">
                  <c:v>66.67</c:v>
                </c:pt>
                <c:pt idx="1">
                  <c:v>33.33</c:v>
                </c:pt>
                <c:pt idx="2">
                  <c:v>40</c:v>
                </c:pt>
                <c:pt idx="3">
                  <c:v>50</c:v>
                </c:pt>
                <c:pt idx="4">
                  <c:v>62.5</c:v>
                </c:pt>
                <c:pt idx="5">
                  <c:v>66.67</c:v>
                </c:pt>
                <c:pt idx="6">
                  <c:v>100</c:v>
                </c:pt>
                <c:pt idx="7">
                  <c:v>0</c:v>
                </c:pt>
                <c:pt idx="8">
                  <c:v>75</c:v>
                </c:pt>
                <c:pt idx="9">
                  <c:v>51.85</c:v>
                </c:pt>
                <c:pt idx="10">
                  <c:v>25</c:v>
                </c:pt>
                <c:pt idx="11">
                  <c:v>66.67</c:v>
                </c:pt>
                <c:pt idx="12">
                  <c:v>40</c:v>
                </c:pt>
                <c:pt idx="13">
                  <c:v>54.55</c:v>
                </c:pt>
                <c:pt idx="14">
                  <c:v>60</c:v>
                </c:pt>
                <c:pt idx="15">
                  <c:v>40</c:v>
                </c:pt>
                <c:pt idx="16">
                  <c:v>66.67</c:v>
                </c:pt>
                <c:pt idx="17">
                  <c:v>75</c:v>
                </c:pt>
                <c:pt idx="18">
                  <c:v>66.67</c:v>
                </c:pt>
                <c:pt idx="19">
                  <c:v>50</c:v>
                </c:pt>
                <c:pt idx="20">
                  <c:v>66.67</c:v>
                </c:pt>
                <c:pt idx="21">
                  <c:v>0</c:v>
                </c:pt>
                <c:pt idx="22">
                  <c:v>41.67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72-4566-BFB8-9FDD7349772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319947280"/>
        <c:axId val="1319948240"/>
      </c:barChart>
      <c:catAx>
        <c:axId val="1319947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9948240"/>
        <c:crosses val="autoZero"/>
        <c:auto val="1"/>
        <c:lblAlgn val="ctr"/>
        <c:lblOffset val="100"/>
        <c:noMultiLvlLbl val="0"/>
      </c:catAx>
      <c:valAx>
        <c:axId val="1319948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994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8351104244939549"/>
          <c:y val="0.48688003054704793"/>
          <c:w val="0.10604857695351749"/>
          <c:h val="0.107258610459439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Avg</a:t>
            </a:r>
            <a:r>
              <a:rPr lang="en-US" sz="2000" b="1" baseline="0" dirty="0"/>
              <a:t> Win Margin By Team</a:t>
            </a:r>
            <a:endParaRPr lang="en-US" sz="2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'CHART Sub 7  2'!$B$1</c:f>
              <c:strCache>
                <c:ptCount val="1"/>
                <c:pt idx="0">
                  <c:v>Matches_Played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Sub 7  2'!$A$2:$A$12</c:f>
              <c:strCache>
                <c:ptCount val="11"/>
                <c:pt idx="0">
                  <c:v>Royal Challengers Bangalore</c:v>
                </c:pt>
                <c:pt idx="1">
                  <c:v>Chennai Super Kings</c:v>
                </c:pt>
                <c:pt idx="2">
                  <c:v>Mumbai Indians</c:v>
                </c:pt>
                <c:pt idx="3">
                  <c:v>Pune Warriors</c:v>
                </c:pt>
                <c:pt idx="4">
                  <c:v>Kings XI Punjab</c:v>
                </c:pt>
                <c:pt idx="5">
                  <c:v>Rising Pune Supergiants</c:v>
                </c:pt>
                <c:pt idx="6">
                  <c:v>Rajasthan Royals</c:v>
                </c:pt>
                <c:pt idx="7">
                  <c:v>Sunrisers Hyderabad</c:v>
                </c:pt>
                <c:pt idx="8">
                  <c:v>Kolkata Knight Riders</c:v>
                </c:pt>
                <c:pt idx="9">
                  <c:v>Delhi Daredevils</c:v>
                </c:pt>
                <c:pt idx="10">
                  <c:v>Gujarat Lions</c:v>
                </c:pt>
              </c:strCache>
            </c:strRef>
          </c:cat>
          <c:val>
            <c:numRef>
              <c:f>'CHART Sub 7  2'!$B$2:$B$12</c:f>
              <c:numCache>
                <c:formatCode>General</c:formatCode>
                <c:ptCount val="11"/>
                <c:pt idx="0">
                  <c:v>31</c:v>
                </c:pt>
                <c:pt idx="1">
                  <c:v>32</c:v>
                </c:pt>
                <c:pt idx="2">
                  <c:v>37</c:v>
                </c:pt>
                <c:pt idx="3">
                  <c:v>4</c:v>
                </c:pt>
                <c:pt idx="4">
                  <c:v>27</c:v>
                </c:pt>
                <c:pt idx="5">
                  <c:v>5</c:v>
                </c:pt>
                <c:pt idx="6">
                  <c:v>25</c:v>
                </c:pt>
                <c:pt idx="7">
                  <c:v>34</c:v>
                </c:pt>
                <c:pt idx="8">
                  <c:v>32</c:v>
                </c:pt>
                <c:pt idx="9">
                  <c:v>17</c:v>
                </c:pt>
                <c:pt idx="1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66-4DEE-8F96-642A8035A1D1}"/>
            </c:ext>
          </c:extLst>
        </c:ser>
        <c:ser>
          <c:idx val="1"/>
          <c:order val="1"/>
          <c:tx>
            <c:strRef>
              <c:f>'CHART Sub 7  2'!$C$1</c:f>
              <c:strCache>
                <c:ptCount val="1"/>
                <c:pt idx="0">
                  <c:v>Average_Win_Margin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'CHART Sub 7  2'!$A$2:$A$12</c:f>
              <c:strCache>
                <c:ptCount val="11"/>
                <c:pt idx="0">
                  <c:v>Royal Challengers Bangalore</c:v>
                </c:pt>
                <c:pt idx="1">
                  <c:v>Chennai Super Kings</c:v>
                </c:pt>
                <c:pt idx="2">
                  <c:v>Mumbai Indians</c:v>
                </c:pt>
                <c:pt idx="3">
                  <c:v>Pune Warriors</c:v>
                </c:pt>
                <c:pt idx="4">
                  <c:v>Kings XI Punjab</c:v>
                </c:pt>
                <c:pt idx="5">
                  <c:v>Rising Pune Supergiants</c:v>
                </c:pt>
                <c:pt idx="6">
                  <c:v>Rajasthan Royals</c:v>
                </c:pt>
                <c:pt idx="7">
                  <c:v>Sunrisers Hyderabad</c:v>
                </c:pt>
                <c:pt idx="8">
                  <c:v>Kolkata Knight Riders</c:v>
                </c:pt>
                <c:pt idx="9">
                  <c:v>Delhi Daredevils</c:v>
                </c:pt>
                <c:pt idx="10">
                  <c:v>Gujarat Lions</c:v>
                </c:pt>
              </c:strCache>
            </c:strRef>
          </c:cat>
          <c:val>
            <c:numRef>
              <c:f>'CHART Sub 7  2'!$C$2:$C$12</c:f>
              <c:numCache>
                <c:formatCode>General</c:formatCode>
                <c:ptCount val="11"/>
                <c:pt idx="0">
                  <c:v>27.7667</c:v>
                </c:pt>
                <c:pt idx="1">
                  <c:v>23.125</c:v>
                </c:pt>
                <c:pt idx="2">
                  <c:v>19.432400000000001</c:v>
                </c:pt>
                <c:pt idx="3">
                  <c:v>19</c:v>
                </c:pt>
                <c:pt idx="4">
                  <c:v>16.3462</c:v>
                </c:pt>
                <c:pt idx="5">
                  <c:v>14.6</c:v>
                </c:pt>
                <c:pt idx="6">
                  <c:v>13.625</c:v>
                </c:pt>
                <c:pt idx="7">
                  <c:v>13.333299999999999</c:v>
                </c:pt>
                <c:pt idx="8">
                  <c:v>12.6563</c:v>
                </c:pt>
                <c:pt idx="9">
                  <c:v>10.2941</c:v>
                </c:pt>
                <c:pt idx="10">
                  <c:v>4.6666999999999996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66-4DEE-8F96-642A8035A1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3416512"/>
        <c:axId val="2093407776"/>
      </c:barChart>
      <c:catAx>
        <c:axId val="2093416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407776"/>
        <c:crosses val="autoZero"/>
        <c:auto val="1"/>
        <c:lblAlgn val="ctr"/>
        <c:lblOffset val="100"/>
        <c:noMultiLvlLbl val="0"/>
      </c:catAx>
      <c:valAx>
        <c:axId val="2093407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416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RCB</a:t>
            </a:r>
            <a:r>
              <a:rPr lang="en-US" sz="2000" b="1" baseline="0" dirty="0"/>
              <a:t> Performance </a:t>
            </a:r>
            <a:endParaRPr lang="en-US" sz="2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Sub 9'!$B$1</c:f>
              <c:strCache>
                <c:ptCount val="1"/>
                <c:pt idx="0">
                  <c:v>Matches_Played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'CHART Sub 9'!$A$2:$A$5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'CHART Sub 9'!$B$2:$B$5</c:f>
              <c:numCache>
                <c:formatCode>General</c:formatCode>
                <c:ptCount val="4"/>
                <c:pt idx="0">
                  <c:v>16</c:v>
                </c:pt>
                <c:pt idx="1">
                  <c:v>14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38-478E-B6C3-8A1F25CD838C}"/>
            </c:ext>
          </c:extLst>
        </c:ser>
        <c:ser>
          <c:idx val="1"/>
          <c:order val="1"/>
          <c:tx>
            <c:strRef>
              <c:f>'CHART Sub 9'!$C$1</c:f>
              <c:strCache>
                <c:ptCount val="1"/>
                <c:pt idx="0">
                  <c:v>Matches_Won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'CHART Sub 9'!$A$2:$A$5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'CHART Sub 9'!$C$2:$C$5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38-478E-B6C3-8A1F25CD83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65046272"/>
        <c:axId val="965044608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'CHART Sub 9'!$D$1</c15:sqref>
                        </c15:formulaRef>
                      </c:ext>
                    </c:extLst>
                    <c:strCache>
                      <c:ptCount val="1"/>
                      <c:pt idx="0">
                        <c:v>Matches_Lost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'CHART Sub 9'!$A$2:$A$5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2013</c:v>
                      </c:pt>
                      <c:pt idx="1">
                        <c:v>2014</c:v>
                      </c:pt>
                      <c:pt idx="2">
                        <c:v>2015</c:v>
                      </c:pt>
                      <c:pt idx="3">
                        <c:v>2016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'CHART Sub 9'!$D$2:$D$5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7</c:v>
                      </c:pt>
                      <c:pt idx="1">
                        <c:v>9</c:v>
                      </c:pt>
                      <c:pt idx="2">
                        <c:v>6</c:v>
                      </c:pt>
                      <c:pt idx="3">
                        <c:v>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EE38-478E-B6C3-8A1F25CD838C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'CHART Sub 9'!$E$1</c15:sqref>
                        </c15:formulaRef>
                      </c:ext>
                    </c:extLst>
                    <c:strCache>
                      <c:ptCount val="1"/>
                      <c:pt idx="0">
                        <c:v>Win_Percentage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'CHART Sub 9'!$A$2:$A$5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2013</c:v>
                      </c:pt>
                      <c:pt idx="1">
                        <c:v>2014</c:v>
                      </c:pt>
                      <c:pt idx="2">
                        <c:v>2015</c:v>
                      </c:pt>
                      <c:pt idx="3">
                        <c:v>2016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'CHART Sub 9'!$E$2:$E$5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56.25</c:v>
                      </c:pt>
                      <c:pt idx="1">
                        <c:v>35.714300000000001</c:v>
                      </c:pt>
                      <c:pt idx="2">
                        <c:v>50</c:v>
                      </c:pt>
                      <c:pt idx="3">
                        <c:v>56.25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EE38-478E-B6C3-8A1F25CD838C}"/>
                  </c:ext>
                </c:extLst>
              </c15:ser>
            </c15:filteredBarSeries>
          </c:ext>
        </c:extLst>
      </c:barChart>
      <c:catAx>
        <c:axId val="96504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044608"/>
        <c:crosses val="autoZero"/>
        <c:auto val="1"/>
        <c:lblAlgn val="ctr"/>
        <c:lblOffset val="100"/>
        <c:noMultiLvlLbl val="0"/>
      </c:catAx>
      <c:valAx>
        <c:axId val="96504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046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8F39C-41E0-4AAB-81C3-AD8F6178421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B1FF5-D114-4945-9669-98E80BBED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6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D8F2-CE25-4F76-B5F2-197E6C0C9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CF810-2554-4AEE-A2D5-7428E6AF8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0AC36-43A5-4E03-A33D-DABF4E9C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8BBA2-5549-45DE-888C-6B738A010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6DDE6-CC33-4E2A-BF6C-DB5146D2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2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5D7C-7253-4C46-AEC0-4E3B8F0F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1C6C8-57A2-4D5F-B241-593756F5E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EFF17-AFDA-4B42-8879-F3A48FDB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6C97F-3180-4AB2-9707-1A640EBC5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15BF8-E39B-4F70-820D-9CDDD29F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7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01B4-B4A7-437D-8687-B3A24397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94AE1-D18E-49F1-A8BB-277BF0971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F83B8-1B31-4D11-A653-C07F8DC7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52E33-F2BC-40B0-B3DA-74F9B32A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B3D61-4742-43B3-9E0B-45BD5F4B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2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BEC0-1ED8-477C-85E4-A95FEA59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2F44-6510-470E-BCF7-CABA2F24F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B55F5-577D-488D-BC4C-31F076E0C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433A6-6714-4946-B69F-23848EAC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859D-7D4D-4165-B953-DE2546A9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8F26F-EB41-4F80-9FFB-8FE72D00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9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901E-8B35-4808-B23D-920759DCC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E34B9-6A87-44C4-9CDD-26A9E3ACA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A3EFD-1F42-4339-8C40-FE666F865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CE8-5D52-483F-8F3F-7E13B8CF8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C485C7-560D-4144-873D-C39722FC9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8BDE0-C896-478B-A176-506AC82C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1822D1-0FBD-447C-8A95-4A54EFE3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A593B-484C-4059-9102-28ABBFC4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3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0203-3902-4123-AF34-3F39E290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4342B-278D-49C4-8312-A55C760C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7E864-1390-49D6-96AC-F6B2D962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89BD4-2FE5-4C72-A40E-D7685B70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6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BADC4-ECE4-4EB2-8042-089A88A1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AF0E2-4F66-47DD-AAC5-3902D8F8E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C8D42-C3B3-4D3C-8AC0-8B11E088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2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439C-9B3A-44A0-913D-237451C96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89ADE-4705-4A67-ACF1-B9C01D187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99043-0F51-40C5-9A68-FFA459E95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81ACE-E876-4701-A1CC-3696AE5F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A3751-F862-4206-8E32-6DAEB62C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B8B49-35D5-4B83-B181-395B4F69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6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E8DB-5425-4F57-8566-FF4C80FE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91B49-1F59-4952-810F-7D0132EE6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F5C0E-43C7-4B9B-B588-662222EB5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E40EA-33CF-40C3-B7EA-8C9723C38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FE9DA-E021-481C-A15B-FCCDEE7EF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B3BE8-4655-4298-962C-8840F356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2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5825-61F9-4243-B260-122E98ED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55CD4-2A25-4701-9CE9-AC88F0155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ACDBA-D714-4A40-9866-96180A15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0B1EC-9AAC-48C0-B9E8-D3BB00193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40D3-D76E-4D13-AB48-6E4D8130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0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C6986-21FF-4671-8DA1-B039AB7240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58718-593E-4E03-B615-52C2E87B1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90BA7-55CA-4720-9282-981FD2C47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F62A2-3097-4E7B-BAF0-D7BFE8A6B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E844C-B68C-4663-BF06-24CBE81D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6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24E83-D478-4C34-880D-42182EEF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F7962-872F-48EC-9A9C-FBE29CF6B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63D8D-7939-41B7-8273-53641776D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1321D-D09A-417F-95DC-27E9D32B55C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03CE3-56FB-43FB-9203-1A82E8E3E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B45F7-2664-46E8-9490-93157320C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B91FF-BBE2-428B-BAFE-F55BB383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5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FF00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39AE-ECB3-4F34-91B8-1D9526C01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52662"/>
            <a:ext cx="12192000" cy="1563688"/>
          </a:xfrm>
          <a:noFill/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SQL PROJECT:</a:t>
            </a:r>
            <a:br>
              <a:rPr lang="en-US" sz="5400" b="1" dirty="0"/>
            </a:br>
            <a:r>
              <a:rPr lang="en-US" sz="54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RCB - IPL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17D82-144E-4ECC-89A4-6BF8B492C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8900" y="4241800"/>
            <a:ext cx="12280900" cy="1563688"/>
          </a:xfrm>
        </p:spPr>
        <p:txBody>
          <a:bodyPr/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Presented by</a:t>
            </a:r>
            <a:r>
              <a:rPr lang="en-US" sz="4400" b="1" dirty="0">
                <a:latin typeface="Baskerville Old Face" panose="02020602080505020303" pitchFamily="18" charset="0"/>
              </a:rPr>
              <a:t>:</a:t>
            </a:r>
          </a:p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Sahil Patil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9E539F5-CC9B-406B-9F5C-7E082738B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02701" y="0"/>
            <a:ext cx="3289300" cy="2692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D52B78-D756-40E9-8408-52A45BFBD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3373"/>
            <a:ext cx="3072266" cy="2715774"/>
          </a:xfrm>
          <a:prstGeom prst="rect">
            <a:avLst/>
          </a:prstGeom>
          <a:effectLst>
            <a:softEdge rad="139700"/>
          </a:effectLst>
        </p:spPr>
      </p:pic>
    </p:spTree>
    <p:extLst>
      <p:ext uri="{BB962C8B-B14F-4D97-AF65-F5344CB8AC3E}">
        <p14:creationId xmlns:p14="http://schemas.microsoft.com/office/powerpoint/2010/main" val="6640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1BC159-A596-4EA4-9BA3-309016E04BD0}"/>
              </a:ext>
            </a:extLst>
          </p:cNvPr>
          <p:cNvSpPr txBox="1"/>
          <p:nvPr/>
        </p:nvSpPr>
        <p:spPr>
          <a:xfrm>
            <a:off x="0" y="37002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PROBLEM STATEMENT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BE5E9-D32A-4AD7-8F0B-BF153639C1C1}"/>
              </a:ext>
            </a:extLst>
          </p:cNvPr>
          <p:cNvSpPr txBox="1"/>
          <p:nvPr/>
        </p:nvSpPr>
        <p:spPr>
          <a:xfrm>
            <a:off x="0" y="2136338"/>
            <a:ext cx="12192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You have been appointed as a sports data analyst for RCB, tasked with identifying top-performing and cost-effective players ahead of the 2017 mega auction. </a:t>
            </a:r>
          </a:p>
          <a:p>
            <a:pPr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048FE-BED6-408B-BEDB-424D8A3AB425}"/>
              </a:ext>
            </a:extLst>
          </p:cNvPr>
          <p:cNvSpPr txBox="1"/>
          <p:nvPr/>
        </p:nvSpPr>
        <p:spPr>
          <a:xfrm>
            <a:off x="-1" y="397383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kern="1200" dirty="0">
                <a:solidFill>
                  <a:srgbClr val="C00000"/>
                </a:solidFill>
                <a:effectLst/>
                <a:latin typeface="Baskerville Old Face" panose="02020602080505020303" pitchFamily="18" charset="0"/>
                <a:ea typeface="+mj-ea"/>
                <a:cs typeface="+mj-cs"/>
              </a:rPr>
              <a:t>OBJECTIVE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34909-CC3C-45CB-B4E8-C1DF5472AC27}"/>
              </a:ext>
            </a:extLst>
          </p:cNvPr>
          <p:cNvSpPr txBox="1"/>
          <p:nvPr/>
        </p:nvSpPr>
        <p:spPr>
          <a:xfrm>
            <a:off x="-1" y="4595149"/>
            <a:ext cx="12192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Your objective is to develop data-driven strategies and actionable insights that will help the franchise build a competitive and well-balanced squad.</a:t>
            </a:r>
          </a:p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CC5CCE-B7A5-4F83-9532-14B7D78C7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3429"/>
            <a:ext cx="2397071" cy="1764474"/>
          </a:xfrm>
          <a:prstGeom prst="rect">
            <a:avLst/>
          </a:prstGeom>
          <a:effectLst>
            <a:softEdge rad="152400"/>
          </a:effectLst>
        </p:spPr>
      </p:pic>
    </p:spTree>
    <p:extLst>
      <p:ext uri="{BB962C8B-B14F-4D97-AF65-F5344CB8AC3E}">
        <p14:creationId xmlns:p14="http://schemas.microsoft.com/office/powerpoint/2010/main" val="52272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3C9EE0-A53D-47E2-8B0B-7BB9FE423D2F}"/>
              </a:ext>
            </a:extLst>
          </p:cNvPr>
          <p:cNvSpPr txBox="1"/>
          <p:nvPr/>
        </p:nvSpPr>
        <p:spPr>
          <a:xfrm>
            <a:off x="-152400" y="40656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DATA OVERVIEW 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16109-1965-4758-97C8-6EA2C39F3F2E}"/>
              </a:ext>
            </a:extLst>
          </p:cNvPr>
          <p:cNvSpPr txBox="1"/>
          <p:nvPr/>
        </p:nvSpPr>
        <p:spPr>
          <a:xfrm>
            <a:off x="312518" y="1779687"/>
            <a:ext cx="58027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effectLst/>
                <a:cs typeface="Arial" panose="020B0604020202020204" pitchFamily="34" charset="0"/>
              </a:rPr>
              <a:t>Core Entities:</a:t>
            </a:r>
            <a:endParaRPr lang="en-US" b="0" i="0" dirty="0">
              <a:effectLst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Player</a:t>
            </a:r>
            <a:r>
              <a:rPr lang="en-US" b="0" i="0" dirty="0">
                <a:effectLst/>
                <a:cs typeface="Arial" panose="020B0604020202020204" pitchFamily="34" charset="0"/>
              </a:rPr>
              <a:t>: Details about players (ID, name, role).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Match</a:t>
            </a:r>
            <a:r>
              <a:rPr lang="en-US" b="0" i="0" dirty="0">
                <a:effectLst/>
                <a:cs typeface="Arial" panose="020B0604020202020204" pitchFamily="34" charset="0"/>
              </a:rPr>
              <a:t>: Information on matches (ID, date, winner, venue).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Team</a:t>
            </a:r>
            <a:r>
              <a:rPr lang="en-US" b="0" i="0" dirty="0">
                <a:effectLst/>
                <a:cs typeface="Arial" panose="020B0604020202020204" pitchFamily="34" charset="0"/>
              </a:rPr>
              <a:t>: Teams participating in the IPL (ID, name).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Venue</a:t>
            </a:r>
            <a:r>
              <a:rPr lang="en-US" b="0" i="0" dirty="0">
                <a:effectLst/>
                <a:cs typeface="Arial" panose="020B0604020202020204" pitchFamily="34" charset="0"/>
              </a:rPr>
              <a:t>: Locations of matches (ID, name, city, country).</a:t>
            </a:r>
          </a:p>
          <a:p>
            <a:pPr marL="457200" lvl="1" indent="0">
              <a:buNone/>
            </a:pPr>
            <a:endParaRPr lang="en-US" b="0" i="0" dirty="0">
              <a:effectLst/>
              <a:cs typeface="Arial" panose="020B0604020202020204" pitchFamily="34" charset="0"/>
            </a:endParaRPr>
          </a:p>
          <a:p>
            <a:r>
              <a:rPr lang="en-US" b="1" i="0" dirty="0">
                <a:effectLst/>
                <a:cs typeface="Arial" panose="020B0604020202020204" pitchFamily="34" charset="0"/>
              </a:rPr>
              <a:t>Performance Tracking:</a:t>
            </a:r>
            <a:endParaRPr lang="en-US" b="0" i="0" dirty="0">
              <a:effectLst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Ball by Ball</a:t>
            </a:r>
            <a:r>
              <a:rPr lang="en-US" b="0" i="0" dirty="0">
                <a:effectLst/>
                <a:cs typeface="Arial" panose="020B0604020202020204" pitchFamily="34" charset="0"/>
              </a:rPr>
              <a:t>: Events for each ball (runs, wickets, player involvement).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Wickets Taken</a:t>
            </a:r>
            <a:r>
              <a:rPr lang="en-US" b="0" i="0" dirty="0">
                <a:effectLst/>
                <a:cs typeface="Arial" panose="020B0604020202020204" pitchFamily="34" charset="0"/>
              </a:rPr>
              <a:t>: Dismissals (bowler, fielder, player out).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Extra Runs</a:t>
            </a:r>
            <a:r>
              <a:rPr lang="en-US" b="0" i="0" dirty="0">
                <a:effectLst/>
                <a:cs typeface="Arial" panose="020B0604020202020204" pitchFamily="34" charset="0"/>
              </a:rPr>
              <a:t>: Extra runs conceded (</a:t>
            </a:r>
            <a:r>
              <a:rPr lang="en-US" b="0" i="0" dirty="0" err="1">
                <a:effectLst/>
                <a:cs typeface="Arial" panose="020B0604020202020204" pitchFamily="34" charset="0"/>
              </a:rPr>
              <a:t>wides</a:t>
            </a:r>
            <a:r>
              <a:rPr lang="en-US" b="0" i="0" dirty="0">
                <a:effectLst/>
                <a:cs typeface="Arial" panose="020B0604020202020204" pitchFamily="34" charset="0"/>
              </a:rPr>
              <a:t>, no-balls).</a:t>
            </a:r>
          </a:p>
          <a:p>
            <a:endParaRPr lang="en-IN" dirty="0"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DB88D-27BD-41EC-B7C8-48576066A429}"/>
              </a:ext>
            </a:extLst>
          </p:cNvPr>
          <p:cNvSpPr txBox="1"/>
          <p:nvPr/>
        </p:nvSpPr>
        <p:spPr>
          <a:xfrm>
            <a:off x="6427811" y="1779687"/>
            <a:ext cx="58027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effectLst/>
                <a:cs typeface="Arial" panose="020B0604020202020204" pitchFamily="34" charset="0"/>
              </a:rPr>
              <a:t>Match Outcomes:</a:t>
            </a:r>
            <a:endParaRPr lang="en-US" b="0" i="0" dirty="0">
              <a:effectLst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Outcome</a:t>
            </a:r>
            <a:r>
              <a:rPr lang="en-US" b="0" i="0" dirty="0">
                <a:effectLst/>
                <a:cs typeface="Arial" panose="020B0604020202020204" pitchFamily="34" charset="0"/>
              </a:rPr>
              <a:t>: Match results (winning team, outcome type).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Win By</a:t>
            </a:r>
            <a:r>
              <a:rPr lang="en-US" b="0" i="0" dirty="0">
                <a:effectLst/>
                <a:cs typeface="Arial" panose="020B0604020202020204" pitchFamily="34" charset="0"/>
              </a:rPr>
              <a:t>: Method and margin of victory.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b="0" i="0" dirty="0">
              <a:effectLst/>
              <a:cs typeface="Arial" panose="020B0604020202020204" pitchFamily="34" charset="0"/>
            </a:endParaRPr>
          </a:p>
          <a:p>
            <a:r>
              <a:rPr lang="en-US" b="1" i="0" dirty="0">
                <a:effectLst/>
                <a:cs typeface="Arial" panose="020B0604020202020204" pitchFamily="34" charset="0"/>
              </a:rPr>
              <a:t>Player Awards:</a:t>
            </a:r>
            <a:endParaRPr lang="en-US" b="0" i="0" dirty="0">
              <a:effectLst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Season</a:t>
            </a:r>
            <a:r>
              <a:rPr lang="en-US" b="0" i="0" dirty="0">
                <a:effectLst/>
                <a:cs typeface="Arial" panose="020B0604020202020204" pitchFamily="34" charset="0"/>
              </a:rPr>
              <a:t>: Season details and awards (Man of the Series, Orange Cap, Purple Cap).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 err="1">
                <a:effectLst/>
                <a:cs typeface="Arial" panose="020B0604020202020204" pitchFamily="34" charset="0"/>
              </a:rPr>
              <a:t>Rolee</a:t>
            </a:r>
            <a:r>
              <a:rPr lang="en-US" b="0" i="0" dirty="0">
                <a:effectLst/>
                <a:cs typeface="Arial" panose="020B0604020202020204" pitchFamily="34" charset="0"/>
              </a:rPr>
              <a:t>: Player roles and skills.</a:t>
            </a:r>
          </a:p>
          <a:p>
            <a:pPr lvl="1"/>
            <a:endParaRPr lang="en-US" b="0" i="0" dirty="0">
              <a:effectLst/>
              <a:cs typeface="Arial" panose="020B0604020202020204" pitchFamily="34" charset="0"/>
            </a:endParaRPr>
          </a:p>
          <a:p>
            <a:r>
              <a:rPr lang="en-US" b="1" i="0" dirty="0">
                <a:effectLst/>
                <a:cs typeface="Arial" panose="020B0604020202020204" pitchFamily="34" charset="0"/>
              </a:rPr>
              <a:t>Supporting Entities:</a:t>
            </a:r>
            <a:endParaRPr lang="en-US" b="0" i="0" dirty="0">
              <a:effectLst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City &amp; Country</a:t>
            </a:r>
            <a:r>
              <a:rPr lang="en-US" b="0" i="0" dirty="0">
                <a:effectLst/>
                <a:cs typeface="Arial" panose="020B0604020202020204" pitchFamily="34" charset="0"/>
              </a:rPr>
              <a:t>: Geographical context for venues.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Umpire</a:t>
            </a:r>
            <a:r>
              <a:rPr lang="en-US" b="0" i="0" dirty="0">
                <a:effectLst/>
                <a:cs typeface="Arial" panose="020B0604020202020204" pitchFamily="34" charset="0"/>
              </a:rPr>
              <a:t>: Details about match officials.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i="0" dirty="0">
                <a:effectLst/>
                <a:cs typeface="Arial" panose="020B0604020202020204" pitchFamily="34" charset="0"/>
              </a:rPr>
              <a:t>Toss Decision</a:t>
            </a:r>
            <a:r>
              <a:rPr lang="en-US" b="0" i="0" dirty="0">
                <a:effectLst/>
                <a:cs typeface="Arial" panose="020B0604020202020204" pitchFamily="34" charset="0"/>
              </a:rPr>
              <a:t>: Outcome of the toss.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9A9D21-44C9-484E-B20C-7E776C7AE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2"/>
            <a:ext cx="2397071" cy="1779126"/>
          </a:xfrm>
          <a:prstGeom prst="rect">
            <a:avLst/>
          </a:prstGeom>
          <a:effectLst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3634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C35AA2-CB64-4CE4-BA7F-7FA1582769B8}"/>
              </a:ext>
            </a:extLst>
          </p:cNvPr>
          <p:cNvSpPr txBox="1"/>
          <p:nvPr/>
        </p:nvSpPr>
        <p:spPr>
          <a:xfrm>
            <a:off x="0" y="43196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DATABASE</a:t>
            </a:r>
            <a:r>
              <a:rPr lang="en-US" sz="3200" b="1" dirty="0">
                <a:solidFill>
                  <a:srgbClr val="C00000"/>
                </a:solidFill>
                <a:latin typeface="Montserrat" panose="00000500000000000000" pitchFamily="2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SCHEMA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127B3E-347F-4903-A312-01220A35C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3627"/>
            <a:ext cx="12192000" cy="5206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B41BD5-FB82-4515-85C2-3E7975FE6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97071" cy="1764792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283700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4B2F2D-BDBB-420F-999E-593CCD191650}"/>
              </a:ext>
            </a:extLst>
          </p:cNvPr>
          <p:cNvSpPr txBox="1"/>
          <p:nvPr/>
        </p:nvSpPr>
        <p:spPr>
          <a:xfrm>
            <a:off x="0" y="4065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METHODOLOGY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374AF-1E6A-44C9-AEB0-522DFCF26585}"/>
              </a:ext>
            </a:extLst>
          </p:cNvPr>
          <p:cNvSpPr txBox="1"/>
          <p:nvPr/>
        </p:nvSpPr>
        <p:spPr>
          <a:xfrm>
            <a:off x="0" y="2071868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cs typeface="Arial" panose="020B0604020202020204" pitchFamily="34" charset="0"/>
              </a:rPr>
              <a:t>Data Understanding &amp; Cleaning:</a:t>
            </a:r>
            <a:r>
              <a:rPr lang="en-US" sz="1800" dirty="0">
                <a:cs typeface="Arial" panose="020B0604020202020204" pitchFamily="34" charset="0"/>
              </a:rPr>
              <a:t> Explored and cleaned data, handling missing values and standardizing team names.</a:t>
            </a:r>
          </a:p>
          <a:p>
            <a:pPr algn="ctr"/>
            <a:endParaRPr lang="en-US" dirty="0">
              <a:cs typeface="Arial" panose="020B0604020202020204" pitchFamily="34" charset="0"/>
            </a:endParaRPr>
          </a:p>
          <a:p>
            <a:pPr algn="ctr"/>
            <a:r>
              <a:rPr lang="en-US" sz="1800" b="1" dirty="0">
                <a:cs typeface="Arial" panose="020B0604020202020204" pitchFamily="34" charset="0"/>
              </a:rPr>
              <a:t>Data Extraction:</a:t>
            </a:r>
            <a:r>
              <a:rPr lang="en-US" sz="1800" dirty="0">
                <a:cs typeface="Arial" panose="020B0604020202020204" pitchFamily="34" charset="0"/>
              </a:rPr>
              <a:t> Retrieved match, player, and venue data using SQL joins and CTEs</a:t>
            </a:r>
            <a:endParaRPr lang="en-US" dirty="0">
              <a:cs typeface="Arial" panose="020B0604020202020204" pitchFamily="34" charset="0"/>
            </a:endParaRPr>
          </a:p>
          <a:p>
            <a:pPr algn="ctr"/>
            <a:endParaRPr lang="en-US" sz="1800" dirty="0">
              <a:cs typeface="Arial" panose="020B0604020202020204" pitchFamily="34" charset="0"/>
            </a:endParaRPr>
          </a:p>
          <a:p>
            <a:pPr algn="ctr"/>
            <a:r>
              <a:rPr lang="en-US" sz="1800" b="1" dirty="0">
                <a:cs typeface="Arial" panose="020B0604020202020204" pitchFamily="34" charset="0"/>
              </a:rPr>
              <a:t>KPI Definition:</a:t>
            </a:r>
            <a:r>
              <a:rPr lang="en-US" sz="1800" dirty="0">
                <a:cs typeface="Arial" panose="020B0604020202020204" pitchFamily="34" charset="0"/>
              </a:rPr>
              <a:t> Defined metrics like win %, strike rate, runs, wickets, and economy rate.</a:t>
            </a:r>
          </a:p>
          <a:p>
            <a:pPr algn="ctr"/>
            <a:endParaRPr lang="en-US" sz="1800" dirty="0">
              <a:cs typeface="Arial" panose="020B0604020202020204" pitchFamily="34" charset="0"/>
            </a:endParaRPr>
          </a:p>
          <a:p>
            <a:pPr algn="ctr"/>
            <a:r>
              <a:rPr lang="en-US" sz="1800" b="1" dirty="0">
                <a:cs typeface="Arial" panose="020B0604020202020204" pitchFamily="34" charset="0"/>
              </a:rPr>
              <a:t>Insights Generation:</a:t>
            </a:r>
            <a:r>
              <a:rPr lang="en-US" sz="1800" dirty="0">
                <a:cs typeface="Arial" panose="020B0604020202020204" pitchFamily="34" charset="0"/>
              </a:rPr>
              <a:t> Identified patterns, strengths, and improvement areas for RCB.</a:t>
            </a:r>
          </a:p>
          <a:p>
            <a:pPr algn="ctr"/>
            <a:endParaRPr lang="en-US" sz="1800" dirty="0">
              <a:cs typeface="Arial" panose="020B0604020202020204" pitchFamily="34" charset="0"/>
            </a:endParaRPr>
          </a:p>
          <a:p>
            <a:pPr algn="ctr"/>
            <a:endParaRPr lang="en-IN" sz="1800" dirty="0">
              <a:cs typeface="Arial" panose="020B0604020202020204" pitchFamily="34" charset="0"/>
            </a:endParaRPr>
          </a:p>
          <a:p>
            <a:pPr algn="ctr"/>
            <a:endParaRPr lang="en-US" dirty="0"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289E-8701-4D9E-8127-09EA5FA20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3333"/>
            <a:ext cx="2397071" cy="1650144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52201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3363314-1BB3-46EA-B766-3679A398A9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9128595"/>
              </p:ext>
            </p:extLst>
          </p:nvPr>
        </p:nvGraphicFramePr>
        <p:xfrm>
          <a:off x="6096000" y="2051965"/>
          <a:ext cx="6095999" cy="3625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783B65-5B55-4D0A-A940-99547A97A96B}"/>
              </a:ext>
            </a:extLst>
          </p:cNvPr>
          <p:cNvSpPr txBox="1"/>
          <p:nvPr/>
        </p:nvSpPr>
        <p:spPr>
          <a:xfrm>
            <a:off x="0" y="288333"/>
            <a:ext cx="1219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TOP BATTERS BY AVERAGE 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RUNS PER MATCH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478332-4CE7-4FB8-93E8-A20CB66F6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"/>
            <a:ext cx="2397071" cy="1765738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7DBABDAE-9013-9CAE-6A8C-84F0A6426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0" y="2427239"/>
            <a:ext cx="52279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performers include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Simmons, Kohli, Warner, and De Villiers.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RCB’s batting strength relies heavily on Kohli and De Villiers.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 is a clear gap between top performers and the rest.</a:t>
            </a:r>
          </a:p>
        </p:txBody>
      </p:sp>
    </p:spTree>
    <p:extLst>
      <p:ext uri="{BB962C8B-B14F-4D97-AF65-F5344CB8AC3E}">
        <p14:creationId xmlns:p14="http://schemas.microsoft.com/office/powerpoint/2010/main" val="318529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F6A4848-ACA8-4CCF-A0BA-96FC28AF82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5943379"/>
              </p:ext>
            </p:extLst>
          </p:nvPr>
        </p:nvGraphicFramePr>
        <p:xfrm>
          <a:off x="0" y="1760482"/>
          <a:ext cx="6879021" cy="4078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B76618-4E1D-4F5A-A7CF-5E6061517288}"/>
              </a:ext>
            </a:extLst>
          </p:cNvPr>
          <p:cNvSpPr txBox="1"/>
          <p:nvPr/>
        </p:nvSpPr>
        <p:spPr>
          <a:xfrm>
            <a:off x="0" y="40656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TOP WICKET-TAKING BOWLERS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30DA12-DDBA-416C-8BE4-02170E07F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1020"/>
            <a:ext cx="2397070" cy="1597572"/>
          </a:xfrm>
          <a:prstGeom prst="rect">
            <a:avLst/>
          </a:prstGeom>
          <a:effectLst>
            <a:softEdge rad="1524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FCF2D2-EFF1-46A9-9AEF-0A566ACE4DA9}"/>
              </a:ext>
            </a:extLst>
          </p:cNvPr>
          <p:cNvSpPr txBox="1"/>
          <p:nvPr/>
        </p:nvSpPr>
        <p:spPr>
          <a:xfrm>
            <a:off x="7454347" y="1935159"/>
            <a:ext cx="45178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Leaderboard:</a:t>
            </a:r>
            <a:r>
              <a:rPr lang="en-US" dirty="0"/>
              <a:t> DJ Bravo emerges as the most consistent wicket-taking threat.</a:t>
            </a:r>
          </a:p>
          <a:p>
            <a:endParaRPr lang="en-US" dirty="0"/>
          </a:p>
          <a:p>
            <a:r>
              <a:rPr lang="en-US" b="1" dirty="0"/>
              <a:t>Consistency:</a:t>
            </a:r>
            <a:r>
              <a:rPr lang="en-US" dirty="0"/>
              <a:t> MM Sharma and B Kumar provide steady pressure and reliable impact.</a:t>
            </a:r>
          </a:p>
          <a:p>
            <a:endParaRPr lang="en-US" dirty="0"/>
          </a:p>
          <a:p>
            <a:r>
              <a:rPr lang="en-US" b="1" dirty="0"/>
              <a:t>Auction Strategy:</a:t>
            </a:r>
            <a:r>
              <a:rPr lang="en-US" dirty="0"/>
              <a:t> These profiles represent the "Gold Standard" for building a balanced bowling attack.</a:t>
            </a:r>
          </a:p>
        </p:txBody>
      </p:sp>
    </p:spTree>
    <p:extLst>
      <p:ext uri="{BB962C8B-B14F-4D97-AF65-F5344CB8AC3E}">
        <p14:creationId xmlns:p14="http://schemas.microsoft.com/office/powerpoint/2010/main" val="322654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ECD42D4-1E1F-45F5-BE7F-0CB732AC02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1879422"/>
              </p:ext>
            </p:extLst>
          </p:nvPr>
        </p:nvGraphicFramePr>
        <p:xfrm>
          <a:off x="1" y="1860330"/>
          <a:ext cx="6505902" cy="3878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AF28108-DF05-4D47-A9C7-D922CF48E1FF}"/>
              </a:ext>
            </a:extLst>
          </p:cNvPr>
          <p:cNvSpPr txBox="1"/>
          <p:nvPr/>
        </p:nvSpPr>
        <p:spPr>
          <a:xfrm>
            <a:off x="0" y="311919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ALL-ROUNDER &amp; CONSISTENT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 PERFORMERS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3E211-B0AB-4D54-BA52-25B436918BD2}"/>
              </a:ext>
            </a:extLst>
          </p:cNvPr>
          <p:cNvSpPr txBox="1"/>
          <p:nvPr/>
        </p:nvSpPr>
        <p:spPr>
          <a:xfrm>
            <a:off x="6705600" y="2150239"/>
            <a:ext cx="54863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All-Rounders – Dual Impact Players</a:t>
            </a:r>
          </a:p>
          <a:p>
            <a:pPr>
              <a:buNone/>
            </a:pP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n-US" sz="1800" dirty="0"/>
              <a:t>This query identifies top all-rounders who have scored </a:t>
            </a:r>
            <a:r>
              <a:rPr lang="en-US" sz="1800" b="1" dirty="0"/>
              <a:t>200+ runs</a:t>
            </a:r>
            <a:r>
              <a:rPr lang="en-US" sz="1800" dirty="0"/>
              <a:t> and taken </a:t>
            </a:r>
            <a:r>
              <a:rPr lang="en-US" sz="1800" b="1" dirty="0"/>
              <a:t>15+ wickets</a:t>
            </a:r>
            <a:r>
              <a:rPr lang="en-US" sz="1800" dirty="0"/>
              <a:t> across all IPL seasons. These players bring dual value with both bat and ball, making </a:t>
            </a:r>
            <a:r>
              <a:rPr lang="en-US" sz="1800" dirty="0">
                <a:cs typeface="Arial" panose="020B0604020202020204" pitchFamily="34" charset="0"/>
              </a:rPr>
              <a:t>them</a:t>
            </a:r>
            <a:r>
              <a:rPr lang="en-US" sz="1800" dirty="0"/>
              <a:t> highly strategic assets. For RCB’s auction planning, such multi-skilled performers are ideal to balance the squad and enhance flexibility in team composition.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125D7A-0E7D-40A4-A35C-E6911FD61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97071" cy="1692166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253027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E2EB428-AE8E-41C9-AA69-CF349F4EA0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223979"/>
              </p:ext>
            </p:extLst>
          </p:nvPr>
        </p:nvGraphicFramePr>
        <p:xfrm>
          <a:off x="32387" y="1888789"/>
          <a:ext cx="6343362" cy="407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6E50969-48D1-46BE-801F-A49F12542A04}"/>
              </a:ext>
            </a:extLst>
          </p:cNvPr>
          <p:cNvSpPr txBox="1"/>
          <p:nvPr/>
        </p:nvSpPr>
        <p:spPr>
          <a:xfrm>
            <a:off x="32386" y="278978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BATTING CHAMPIONS &amp; 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STRIKE RATES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A4053A-3C7E-4F0A-AF57-53F0118BB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232"/>
            <a:ext cx="2480441" cy="1563809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29CD33D-636E-6072-C753-56881FCF1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356" y="2375419"/>
            <a:ext cx="4872653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Strike Rate Leader: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AB de Villiers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stands out with a 164 strike rate, offering the highest impact per ball.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Volume Anchors: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Kohli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Warner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lead in total runs, providing the foundation for the innings.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Strategic Profile: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Effective strategy requires balancing "Stability Players" (Rahane/Gambhir) with "Aggressive Momentum" (Gayle/Raina)</a:t>
            </a:r>
          </a:p>
        </p:txBody>
      </p:sp>
    </p:spTree>
    <p:extLst>
      <p:ext uri="{BB962C8B-B14F-4D97-AF65-F5344CB8AC3E}">
        <p14:creationId xmlns:p14="http://schemas.microsoft.com/office/powerpoint/2010/main" val="174731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2993" y="0"/>
            <a:ext cx="2039007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C37510-B30A-40F2-9E3B-43A1F2EE5B66}"/>
              </a:ext>
            </a:extLst>
          </p:cNvPr>
          <p:cNvSpPr txBox="1"/>
          <p:nvPr/>
        </p:nvSpPr>
        <p:spPr>
          <a:xfrm>
            <a:off x="152400" y="247395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IMPACT OF TOSS DECISION ON MATCH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 RESULTS ACROSS VENUES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FDC781E-F968-41B0-B8F9-20352F82B2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411693"/>
              </p:ext>
            </p:extLst>
          </p:nvPr>
        </p:nvGraphicFramePr>
        <p:xfrm>
          <a:off x="152400" y="1755144"/>
          <a:ext cx="6260926" cy="485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5F1FF20-7A39-4378-909A-1081EFDC0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2375339" cy="1755144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B25676E-6A08-C960-758C-E202E4120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914" y="2485845"/>
            <a:ext cx="52998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Venue Sensitivity: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Toss impact is not universal; success depends heavily on local pitch and weather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Fielding Advantage: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Stadiums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Wankhede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Eden Gardens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show a clear trend favoring teams that bowl first.</a:t>
            </a:r>
            <a:endParaRPr lang="en-US" altLang="en-US" dirty="0"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Batting Strongholds: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Specific venues offer a distinct advantage to teams setting a total, requiring a "Bat-First" strategy</a:t>
            </a:r>
          </a:p>
        </p:txBody>
      </p:sp>
    </p:spTree>
    <p:extLst>
      <p:ext uri="{BB962C8B-B14F-4D97-AF65-F5344CB8AC3E}">
        <p14:creationId xmlns:p14="http://schemas.microsoft.com/office/powerpoint/2010/main" val="1158415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5EFB6D-D8AB-4A57-AA37-30738BD875EC}"/>
              </a:ext>
            </a:extLst>
          </p:cNvPr>
          <p:cNvSpPr txBox="1"/>
          <p:nvPr/>
        </p:nvSpPr>
        <p:spPr>
          <a:xfrm>
            <a:off x="0" y="320696"/>
            <a:ext cx="121184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WIN MARGIN AND HIGH-SCORING 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MATCH INSIGHTS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B683DAF-293A-4B4F-9AFD-388F8C6A6A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8165017"/>
              </p:ext>
            </p:extLst>
          </p:nvPr>
        </p:nvGraphicFramePr>
        <p:xfrm>
          <a:off x="0" y="1718610"/>
          <a:ext cx="6373302" cy="4156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D3BC7E3-5E45-4D21-8A1C-B3DFD1947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97071" cy="1608082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D4777A2-5384-21E7-AD0C-91F8502EE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933" y="2103836"/>
            <a:ext cx="504829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 Leader: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RCB leads the league with the highest average win margin, signaling tactical dominance when securing victories.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Tier Consistency: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CSK and MI follow closely, maintaining strong margins across high volumes of matches.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Gap: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clear divide exists between the "Big Three" and lower-tier teams, who struggle to win convincingly.</a:t>
            </a:r>
          </a:p>
        </p:txBody>
      </p:sp>
    </p:spTree>
    <p:extLst>
      <p:ext uri="{BB962C8B-B14F-4D97-AF65-F5344CB8AC3E}">
        <p14:creationId xmlns:p14="http://schemas.microsoft.com/office/powerpoint/2010/main" val="1547462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1BEEAA-D4EA-4712-8BD0-A6F0BE759CB4}"/>
              </a:ext>
            </a:extLst>
          </p:cNvPr>
          <p:cNvSpPr txBox="1"/>
          <p:nvPr/>
        </p:nvSpPr>
        <p:spPr>
          <a:xfrm>
            <a:off x="56827" y="320696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RCB PERFORMANCE ANALYSIS:</a:t>
            </a: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 2013-2016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F04DBCF-4717-47AD-A004-1C6334A25B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3950278"/>
              </p:ext>
            </p:extLst>
          </p:nvPr>
        </p:nvGraphicFramePr>
        <p:xfrm>
          <a:off x="6885709" y="1954979"/>
          <a:ext cx="5306291" cy="3754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DE56983-3199-440F-B0CA-A82142B48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97070" cy="1576552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88900"/>
          </a:effec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663D0F2-ED4A-CCEF-7FA9-5B0BA14C0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57" y="2421261"/>
            <a:ext cx="583904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2014 Dip: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Performance hit a floor in 2014, marking the most challenging period in this four-year window.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V-Shaped Recovery: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2015 served as a critical transition year, leading to a full recovery by 2016.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Peak Consistency: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2016 matched the high-water mark of 2013, returning the team 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56.3% win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peak momentum.</a:t>
            </a:r>
          </a:p>
        </p:txBody>
      </p:sp>
    </p:spTree>
    <p:extLst>
      <p:ext uri="{BB962C8B-B14F-4D97-AF65-F5344CB8AC3E}">
        <p14:creationId xmlns:p14="http://schemas.microsoft.com/office/powerpoint/2010/main" val="4209466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DEB570-C2D0-4DCF-8933-0683D019E377}"/>
              </a:ext>
            </a:extLst>
          </p:cNvPr>
          <p:cNvSpPr txBox="1"/>
          <p:nvPr/>
        </p:nvSpPr>
        <p:spPr>
          <a:xfrm>
            <a:off x="0" y="4065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KEY INSIGHTS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09B70-6463-478D-91C6-352ED7E6B9DD}"/>
              </a:ext>
            </a:extLst>
          </p:cNvPr>
          <p:cNvSpPr txBox="1"/>
          <p:nvPr/>
        </p:nvSpPr>
        <p:spPr>
          <a:xfrm>
            <a:off x="580896" y="2465704"/>
            <a:ext cx="60434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cs typeface="Arial" panose="020B0604020202020204" pitchFamily="34" charset="0"/>
              </a:rPr>
              <a:t> Team Performance</a:t>
            </a: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RCB showed fluctuating results across seasons.</a:t>
            </a: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Best performances came in 2013 and 2016.</a:t>
            </a:r>
          </a:p>
          <a:p>
            <a:pPr marL="0" indent="0"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b="1" dirty="0">
                <a:cs typeface="Arial" panose="020B0604020202020204" pitchFamily="34" charset="0"/>
              </a:rPr>
              <a:t> Batting Insights</a:t>
            </a: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Kohli and AB de Villiers are the main scoring pillars.</a:t>
            </a: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High strike-rate hitters like ABD and Pandya stand out.</a:t>
            </a:r>
          </a:p>
          <a:p>
            <a:pPr marL="0" indent="0"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b="1" dirty="0">
                <a:cs typeface="Arial" panose="020B0604020202020204" pitchFamily="34" charset="0"/>
              </a:rPr>
              <a:t> Bowling Insights</a:t>
            </a: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Bravo leads in consistent wicket-taking.</a:t>
            </a:r>
          </a:p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MM Sharma and B Kumar provide strong bowling impact.</a:t>
            </a:r>
          </a:p>
          <a:p>
            <a:endParaRPr lang="en-IN" sz="1800" dirty="0"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D1441-0B44-46FA-9878-868400F978F4}"/>
              </a:ext>
            </a:extLst>
          </p:cNvPr>
          <p:cNvSpPr txBox="1"/>
          <p:nvPr/>
        </p:nvSpPr>
        <p:spPr>
          <a:xfrm>
            <a:off x="6960533" y="2465704"/>
            <a:ext cx="4498428" cy="3005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 All-Rounder Impact</a:t>
            </a:r>
          </a:p>
          <a:p>
            <a:endParaRPr lang="en-US" sz="400" b="1" dirty="0"/>
          </a:p>
          <a:p>
            <a:pPr marL="0" indent="0">
              <a:buNone/>
            </a:pPr>
            <a:r>
              <a:rPr lang="en-US" sz="1800" dirty="0"/>
              <a:t>Watson and Jadeja deliver strong dual contributions.</a:t>
            </a:r>
          </a:p>
          <a:p>
            <a:pPr marL="0" indent="0">
              <a:buNone/>
            </a:pPr>
            <a:endParaRPr lang="en-US" sz="400" dirty="0"/>
          </a:p>
          <a:p>
            <a:pPr marL="0" indent="0">
              <a:buNone/>
            </a:pPr>
            <a:r>
              <a:rPr lang="en-US" sz="1800" dirty="0"/>
              <a:t>All-rounders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en-US" sz="1800" dirty="0"/>
              <a:t> balance and match-winning flexibility.</a:t>
            </a:r>
          </a:p>
          <a:p>
            <a:endParaRPr lang="en-US" sz="1100" dirty="0"/>
          </a:p>
          <a:p>
            <a:r>
              <a:rPr lang="en-US" sz="1800" b="1" dirty="0"/>
              <a:t> Toss Decision Insights</a:t>
            </a:r>
            <a:endParaRPr lang="en-US" sz="400" b="1" dirty="0"/>
          </a:p>
          <a:p>
            <a:endParaRPr lang="en-US" sz="300" b="1" dirty="0"/>
          </a:p>
          <a:p>
            <a:pPr marL="0" indent="0">
              <a:buNone/>
            </a:pPr>
            <a:r>
              <a:rPr lang="en-US" sz="1800" dirty="0"/>
              <a:t>Toss advantage varies significantly by venue.</a:t>
            </a:r>
          </a:p>
          <a:p>
            <a:pPr marL="0" indent="0">
              <a:buNone/>
            </a:pPr>
            <a:endParaRPr lang="en-US" sz="400" dirty="0"/>
          </a:p>
          <a:p>
            <a:pPr marL="0" indent="0">
              <a:buNone/>
            </a:pPr>
            <a:r>
              <a:rPr lang="en-US" sz="1800" dirty="0"/>
              <a:t>Effective only when conditions strongly affect gameplay.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D29641-5D45-44BD-8E94-DB8F7E27D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97071" cy="1660634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3249811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0917CE-4408-4C1B-8DE8-BCA65485BD4C}"/>
              </a:ext>
            </a:extLst>
          </p:cNvPr>
          <p:cNvSpPr txBox="1"/>
          <p:nvPr/>
        </p:nvSpPr>
        <p:spPr>
          <a:xfrm>
            <a:off x="56827" y="40656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STRATEGIC RECOMMENDATION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B31BC-4E43-4911-BF58-C28888F4E155}"/>
              </a:ext>
            </a:extLst>
          </p:cNvPr>
          <p:cNvSpPr txBox="1"/>
          <p:nvPr/>
        </p:nvSpPr>
        <p:spPr>
          <a:xfrm>
            <a:off x="0" y="1944414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cs typeface="Arial" panose="020B0604020202020204" pitchFamily="34" charset="0"/>
              </a:rPr>
              <a:t>Player Recruitment:</a:t>
            </a:r>
            <a:r>
              <a:rPr lang="en-US" sz="1800" dirty="0">
                <a:cs typeface="Arial" panose="020B0604020202020204" pitchFamily="34" charset="0"/>
              </a:rPr>
              <a:t> Sign players with steady, proven batting and bowling performance.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b="1" dirty="0">
                <a:cs typeface="Arial" panose="020B0604020202020204" pitchFamily="34" charset="0"/>
              </a:rPr>
              <a:t>Venue Strategies:</a:t>
            </a:r>
            <a:r>
              <a:rPr lang="en-US" sz="1800" dirty="0">
                <a:cs typeface="Arial" panose="020B0604020202020204" pitchFamily="34" charset="0"/>
              </a:rPr>
              <a:t> Shape match plans using past venue-specific results.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b="1" dirty="0">
                <a:cs typeface="Arial" panose="020B0604020202020204" pitchFamily="34" charset="0"/>
              </a:rPr>
              <a:t>Toss Optimization:</a:t>
            </a:r>
            <a:r>
              <a:rPr lang="en-US" sz="1800" dirty="0">
                <a:cs typeface="Arial" panose="020B0604020202020204" pitchFamily="34" charset="0"/>
              </a:rPr>
              <a:t> Let historical data guide whether to bat or bowl first.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b="1" dirty="0">
                <a:cs typeface="Arial" panose="020B0604020202020204" pitchFamily="34" charset="0"/>
              </a:rPr>
              <a:t>Diverse Skill Sets:</a:t>
            </a:r>
            <a:r>
              <a:rPr lang="en-US" sz="1800" dirty="0">
                <a:cs typeface="Arial" panose="020B0604020202020204" pitchFamily="34" charset="0"/>
              </a:rPr>
              <a:t> Build a balanced team with varied batting and bowling strengths.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b="1" dirty="0">
                <a:cs typeface="Arial" panose="020B0604020202020204" pitchFamily="34" charset="0"/>
              </a:rPr>
              <a:t>Team Morale:</a:t>
            </a:r>
            <a:r>
              <a:rPr lang="en-US" sz="1800" dirty="0">
                <a:cs typeface="Arial" panose="020B0604020202020204" pitchFamily="34" charset="0"/>
              </a:rPr>
              <a:t> Maintain a positive, unified team environment.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b="1" dirty="0">
                <a:cs typeface="Arial" panose="020B0604020202020204" pitchFamily="34" charset="0"/>
              </a:rPr>
              <a:t>Performance Monitoring:</a:t>
            </a:r>
            <a:r>
              <a:rPr lang="en-US" sz="1800" dirty="0">
                <a:cs typeface="Arial" panose="020B0604020202020204" pitchFamily="34" charset="0"/>
              </a:rPr>
              <a:t> Track key metrics regularly to adjust strategies.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b="1" dirty="0">
                <a:cs typeface="Arial" panose="020B0604020202020204" pitchFamily="34" charset="0"/>
              </a:rPr>
              <a:t>High-Scoring Insights:</a:t>
            </a:r>
            <a:r>
              <a:rPr lang="en-US" sz="1800" dirty="0">
                <a:cs typeface="Arial" panose="020B0604020202020204" pitchFamily="34" charset="0"/>
              </a:rPr>
              <a:t> Apply lessons from high-scoring games to future tactics.</a:t>
            </a:r>
          </a:p>
          <a:p>
            <a:endParaRPr lang="en-IN" sz="1800" dirty="0"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35F906-4597-4923-BEE0-2932292CD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97070" cy="1692166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395154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dian Premier League - Wikipedia">
            <a:extLst>
              <a:ext uri="{FF2B5EF4-FFF2-40B4-BE49-F238E27FC236}">
                <a16:creationId xmlns:a16="http://schemas.microsoft.com/office/drawing/2014/main" id="{C70F2EB1-27DC-4545-A841-331420EC8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D4441E-3E2F-461C-ACAA-85929417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4929" y="0"/>
            <a:ext cx="2397071" cy="1397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2BD8A2-978E-46F8-91EA-07B1B0303F4B}"/>
              </a:ext>
            </a:extLst>
          </p:cNvPr>
          <p:cNvSpPr txBox="1"/>
          <p:nvPr/>
        </p:nvSpPr>
        <p:spPr>
          <a:xfrm>
            <a:off x="0" y="40656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CONCLUSION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ABFEB-532A-47DD-B9C7-6CE8D713FC20}"/>
              </a:ext>
            </a:extLst>
          </p:cNvPr>
          <p:cNvSpPr txBox="1"/>
          <p:nvPr/>
        </p:nvSpPr>
        <p:spPr>
          <a:xfrm>
            <a:off x="1213945" y="2427238"/>
            <a:ext cx="9764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cs typeface="Arial" panose="020B0604020202020204" pitchFamily="34" charset="0"/>
              </a:rPr>
              <a:t>The analysis shows which players perform well regularly and which new talents are growing.</a:t>
            </a:r>
          </a:p>
          <a:p>
            <a:r>
              <a:rPr lang="en-US" sz="1800" dirty="0">
                <a:cs typeface="Arial" panose="020B0604020202020204" pitchFamily="34" charset="0"/>
              </a:rPr>
              <a:t>Choosing players who can adapt to different match conditions will help the team.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dirty="0">
                <a:cs typeface="Arial" panose="020B0604020202020204" pitchFamily="34" charset="0"/>
              </a:rPr>
              <a:t>Mixing experienced players with young talent makes the team stronger.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r>
              <a:rPr lang="en-US" sz="1800" dirty="0">
                <a:cs typeface="Arial" panose="020B0604020202020204" pitchFamily="34" charset="0"/>
              </a:rPr>
              <a:t>Overall, using this information will help RCB make better choices and improve their chances of doing well in 2017 and in the future.</a:t>
            </a:r>
          </a:p>
          <a:p>
            <a:endParaRPr lang="en-IN" sz="1800" dirty="0"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F85BBD-5681-4E7A-967D-EFEFFDAB5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2397071" cy="1713186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495918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1029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Arial</vt:lpstr>
      <vt:lpstr>Baskerville Old Face</vt:lpstr>
      <vt:lpstr>Calibri</vt:lpstr>
      <vt:lpstr>Calibri Light</vt:lpstr>
      <vt:lpstr>Courier New</vt:lpstr>
      <vt:lpstr>Montserrat</vt:lpstr>
      <vt:lpstr>Office Theme</vt:lpstr>
      <vt:lpstr>SQL PROJECT: RCB - IPL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yoga</dc:creator>
  <cp:lastModifiedBy>yoga</cp:lastModifiedBy>
  <cp:revision>23</cp:revision>
  <dcterms:created xsi:type="dcterms:W3CDTF">2026-03-07T07:48:03Z</dcterms:created>
  <dcterms:modified xsi:type="dcterms:W3CDTF">2026-03-11T04:01:20Z</dcterms:modified>
</cp:coreProperties>
</file>